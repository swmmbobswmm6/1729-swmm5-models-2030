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1467" r:id="rId10"/>
    <p:sldId id="279" r:id="rId11"/>
    <p:sldId id="1496" r:id="rId12"/>
    <p:sldId id="1489" r:id="rId13"/>
    <p:sldId id="1476" r:id="rId14"/>
    <p:sldId id="1492" r:id="rId15"/>
    <p:sldId id="1477" r:id="rId16"/>
    <p:sldId id="1478" r:id="rId17"/>
    <p:sldId id="1479" r:id="rId18"/>
    <p:sldId id="1490" r:id="rId19"/>
    <p:sldId id="1480" r:id="rId20"/>
    <p:sldId id="1482" r:id="rId21"/>
    <p:sldId id="1491" r:id="rId22"/>
    <p:sldId id="1481" r:id="rId23"/>
    <p:sldId id="1483" r:id="rId24"/>
    <p:sldId id="1486" r:id="rId25"/>
    <p:sldId id="1493" r:id="rId26"/>
    <p:sldId id="1487" r:id="rId27"/>
    <p:sldId id="1488" r:id="rId28"/>
    <p:sldId id="1495" r:id="rId29"/>
    <p:sldId id="149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ert Carr" initials="RC" lastIdx="0" clrIdx="0">
    <p:extLst>
      <p:ext uri="{19B8F6BF-5375-455C-9EA6-DF929625EA0E}">
        <p15:presenceInfo xmlns:p15="http://schemas.microsoft.com/office/powerpoint/2012/main" userId="1ee1a87598d0eb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38679-E10A-45FE-B88D-0B2B6B311290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B65B2-8225-4912-B2A7-02CC5749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F52A42-217D-4AAB-A457-0EB2BEF9764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92825" cy="34274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295" y="4342192"/>
            <a:ext cx="5027414" cy="4115405"/>
          </a:xfr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FDF5FD-0AE4-4246-BEC4-7391BD12C6FF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00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4BE9-03CC-4950-9EE2-3B1CB365C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72B76-2AAF-4A98-AFB4-B938DEDBF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34A16-09D1-45DE-8B47-E0015614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CB106-78CF-4928-B676-17DD02AC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F30A2-282F-4BF6-9C3C-892F0658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76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6915-9F45-41DB-83D2-849BD11C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9AF8E-AC91-4F2F-B3FE-A16B81C20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B010-AD0B-4A24-BDD2-FDE6ADD0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4941E-619E-4C5D-9F5F-228BD3AD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07BF8-033E-4A5E-8BF5-06C64BCB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9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EFB7-8AEF-495E-884C-47AF46C3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32354-EDC8-459C-B582-4086D172F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33D0-B0E3-421E-9424-51308220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2A59-CC6F-4BC3-BE9D-749E6BCD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A980C-F016-4010-8EE4-18A69C43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62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857CA-44BC-4516-B913-72FFC4B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CE650-5260-451E-AA19-3D4C58197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34D55-D15D-4E6C-AFD6-C092C5240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4985B-708A-4A29-99DA-0035FC45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C6349-1398-49F7-9CCE-714742B3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71297-38DE-4077-A06C-8A4F90D5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6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F3DF-4066-4792-A13E-C1E1D9E3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5DAEB-DB97-4D6D-A7DE-3BE89BD05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E0B7C-ECB0-4BBF-9A75-93FA69BF9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F3D87-D660-47DD-8921-9C296BB73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DA4E6-5594-4F6C-873C-8A119906C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F3372-AAD5-40DB-B16A-5A2C252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70909-4795-4774-83D5-6FD86CA2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B3B34-CF72-4C29-BA52-FB96FA94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08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2E-5C31-4047-9220-D010EE65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7AE72-1591-4A68-9B2C-F256FD566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B7D87-564A-4E2F-9597-DB12C5A6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8D64F-1DF0-4519-B077-2402659D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60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C60F8-175E-42E1-B472-7C757E62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CEF36-D09A-4D16-BC29-C4F3B889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B586C-8812-4157-806E-B8A4B884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57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8B66-B974-46BE-83E2-783A6831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2C37-302E-43E9-B403-169B4E933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11969-8D33-46F4-97E1-FFF741958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B31E0-32CA-49AF-9EE1-A3FCF93C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D751F-46B8-4B15-A043-C9E1CA20B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4C2A2-9C01-4E20-B041-1EA434A4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15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6684-32AE-4C0F-A08A-777477B6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C6FB4-682F-49DF-8A4B-DD084C5D8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AB574-7FF1-4EF3-B644-4C1582AFF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38061-F7EA-419E-A9D0-22D8810A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111BC-B463-4AA8-A39C-17E5BB37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85032-42BE-45B0-B3FA-37399B77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6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D32C-2E7A-45CD-AB74-D8E5D5E37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7F8B7-A15F-4D4E-9A98-422F62E8E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8EA3-2F07-430D-B2CF-C68411BD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AF64-3A35-48D5-9F77-22C4A2EA7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06A4-978B-4B9B-9A89-69EFBC39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93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C17B9-F14C-4678-A953-BF68D76A7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144FA-2123-4CB7-A42E-74A10EC73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87604-A06E-4C65-AD01-0D794EC0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54D2B-9133-4ECB-9913-659BADBA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206A-4216-4877-8971-C94EF01B1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52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gradFill flip="none" rotWithShape="0">
          <a:gsLst>
            <a:gs pos="0">
              <a:srgbClr val="07206F"/>
            </a:gs>
            <a:gs pos="100000">
              <a:srgbClr val="182F7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199"/>
            <a:ext cx="12192000" cy="5740153"/>
          </a:xfrm>
        </p:spPr>
        <p:txBody>
          <a:bodyPr/>
          <a:lstStyle>
            <a:lvl1pPr>
              <a:defRPr sz="2800">
                <a:solidFill>
                  <a:schemeClr val="accent3"/>
                </a:solidFill>
              </a:defRPr>
            </a:lvl1pPr>
            <a:lvl2pPr>
              <a:defRPr sz="2400">
                <a:solidFill>
                  <a:schemeClr val="accent3"/>
                </a:solidFill>
              </a:defRPr>
            </a:lvl2pPr>
            <a:lvl3pPr>
              <a:defRPr sz="2000">
                <a:solidFill>
                  <a:schemeClr val="accent3"/>
                </a:solidFill>
              </a:defRPr>
            </a:lvl3pPr>
            <a:lvl4pPr>
              <a:defRPr sz="1800">
                <a:solidFill>
                  <a:schemeClr val="accent3"/>
                </a:solidFill>
              </a:defRPr>
            </a:lvl4pPr>
            <a:lvl5pPr>
              <a:defRPr sz="1800">
                <a:solidFill>
                  <a:schemeClr val="accent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681487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01D27-A69F-4E60-AE12-D4F16D57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19BD-9BEA-443A-9D79-57C4FB8F6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D9A31-377C-4FF9-BA92-7E92E4C3B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28DDE-D7FB-4256-8446-783E3FA1E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7EC0-8DDE-4E75-A34E-52728E10D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7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7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6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.xlsx"/><Relationship Id="rId3" Type="http://schemas.openxmlformats.org/officeDocument/2006/relationships/image" Target="../media/image22.emf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dipper.nws.noaa.gov/hdsc/pfd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cdo.ncdc.noaa.gov/qclcd/QCLCD?prior=N" TargetMode="External"/><Relationship Id="rId2" Type="http://schemas.openxmlformats.org/officeDocument/2006/relationships/hyperlink" Target="http://gis.ncdc.noaa.gov/map/viewer/#app=cdo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A5E7-86D5-4D67-9BD4-699C78ECE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290" y="339569"/>
            <a:ext cx="10421753" cy="15868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charset="0"/>
              </a:rPr>
              <a:t>Modeling Urban Stormwater Using EPA-SWMM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C79E7-288C-49A1-9FB4-5E045018D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290" y="2136191"/>
            <a:ext cx="6400800" cy="3243678"/>
          </a:xfrm>
        </p:spPr>
        <p:txBody>
          <a:bodyPr>
            <a:normAutofit lnSpcReduction="10000"/>
          </a:bodyPr>
          <a:lstStyle/>
          <a:p>
            <a:pPr algn="r">
              <a:lnSpc>
                <a:spcPct val="80000"/>
              </a:lnSpc>
              <a:buClr>
                <a:srgbClr val="4D74AB"/>
              </a:buClr>
            </a:pPr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Robert (Bob) Carr, PE, CSM, ENV_SP</a:t>
            </a:r>
          </a:p>
          <a:p>
            <a:pPr algn="r">
              <a:lnSpc>
                <a:spcPct val="80000"/>
              </a:lnSpc>
              <a:buClr>
                <a:srgbClr val="4D74AB"/>
              </a:buClr>
            </a:pPr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Water Resources Modeling, LLC</a:t>
            </a:r>
          </a:p>
          <a:p>
            <a:pPr algn="r">
              <a:lnSpc>
                <a:spcPct val="80000"/>
              </a:lnSpc>
              <a:buClr>
                <a:srgbClr val="4D74AB"/>
              </a:buClr>
            </a:pPr>
            <a:endParaRPr lang="en-US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r">
              <a:lnSpc>
                <a:spcPct val="80000"/>
              </a:lnSpc>
              <a:buClr>
                <a:srgbClr val="4D74AB"/>
              </a:buClr>
            </a:pPr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Robert Dickinson, ME</a:t>
            </a:r>
          </a:p>
          <a:p>
            <a:pPr algn="r">
              <a:lnSpc>
                <a:spcPct val="80000"/>
              </a:lnSpc>
              <a:buClr>
                <a:srgbClr val="4D74AB"/>
              </a:buClr>
            </a:pPr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Innovyze</a:t>
            </a:r>
          </a:p>
          <a:p>
            <a:pPr algn="r">
              <a:lnSpc>
                <a:spcPct val="80000"/>
              </a:lnSpc>
              <a:buClr>
                <a:srgbClr val="4D74AB"/>
              </a:buClr>
            </a:pPr>
            <a:endParaRPr lang="en-US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r">
              <a:lnSpc>
                <a:spcPct val="80000"/>
              </a:lnSpc>
              <a:buClr>
                <a:srgbClr val="4D74AB"/>
              </a:buClr>
            </a:pPr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Austin, TX</a:t>
            </a:r>
          </a:p>
          <a:p>
            <a:pPr algn="r">
              <a:lnSpc>
                <a:spcPct val="80000"/>
              </a:lnSpc>
              <a:buClr>
                <a:srgbClr val="4D74AB"/>
              </a:buClr>
            </a:pPr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January 31 – February 1, 2010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B74DA-3DDC-44D7-B77A-C40603B8E731}"/>
              </a:ext>
            </a:extLst>
          </p:cNvPr>
          <p:cNvSpPr/>
          <p:nvPr/>
        </p:nvSpPr>
        <p:spPr>
          <a:xfrm>
            <a:off x="7049311" y="637993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i="1" dirty="0">
                <a:latin typeface="Arial" charset="0"/>
                <a:cs typeface="Arial" charset="0"/>
              </a:rPr>
              <a:t>Thanks to David Sample, </a:t>
            </a:r>
            <a:r>
              <a:rPr lang="en-US" sz="1200" i="1" dirty="0" err="1">
                <a:latin typeface="Arial" charset="0"/>
                <a:cs typeface="Arial" charset="0"/>
              </a:rPr>
              <a:t>Ph.D</a:t>
            </a:r>
            <a:r>
              <a:rPr lang="en-US" sz="1200" i="1" dirty="0">
                <a:latin typeface="Arial" charset="0"/>
                <a:cs typeface="Arial" charset="0"/>
              </a:rPr>
              <a:t> for slide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61813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A866-F016-44C0-9EF2-9C35338A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WORKSHOP GOAL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CC307-CAFD-4EDE-ADAD-7282C9252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53" y="1866014"/>
            <a:ext cx="9995625" cy="3615267"/>
          </a:xfrm>
        </p:spPr>
        <p:txBody>
          <a:bodyPr/>
          <a:lstStyle/>
          <a:p>
            <a:r>
              <a:rPr 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provide professionals in the stormwater management field with a detailed understanding of the hydrologic/hydraulic modeling tools in EPASWMM available to support design of practices intended to control and mitigate the negative effects of urban runoff.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83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2AAEA-FEBB-4375-A2AE-8BC020193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700" y="281866"/>
            <a:ext cx="9818072" cy="65761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1:</a:t>
            </a:r>
          </a:p>
          <a:p>
            <a:r>
              <a:rPr lang="en-US" sz="3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runoff hydrology</a:t>
            </a:r>
            <a:b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GUI features and Theory</a:t>
            </a:r>
            <a:b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 Runoff and Infiltration Options</a:t>
            </a:r>
            <a:b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 SCS methodology</a:t>
            </a:r>
            <a:endParaRPr lang="en-US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Hydraulic routing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Introduction to GUI features and Theory</a:t>
            </a:r>
            <a:b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	o Pipe and surface channel modeling</a:t>
            </a:r>
            <a:b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	o Hydraulic routing using kinematic and dynamic wave algorithms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Hydrology</a:t>
            </a:r>
            <a:b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</a:t>
            </a: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Importing hydrographs generated from other models (application)	o SCS Hydrographs (supplied by NCIMM as Time Series)</a:t>
            </a:r>
            <a:b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 Low Impact Development (LID) stormwater modeling</a:t>
            </a:r>
          </a:p>
          <a:p>
            <a:r>
              <a:rPr lang="en-US" sz="3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Hydraulic</a:t>
            </a:r>
            <a:b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</a:t>
            </a: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HEC-RAS Natural Sections</a:t>
            </a:r>
            <a:b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 Quasi Flood Plain Modeling</a:t>
            </a:r>
            <a:b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 Real Time Controls</a:t>
            </a:r>
          </a:p>
          <a:p>
            <a:r>
              <a:rPr lang="en-US" sz="3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Detention basin modeling</a:t>
            </a:r>
            <a:b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</a:t>
            </a: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Ponds</a:t>
            </a:r>
            <a:b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 Weirs</a:t>
            </a:r>
            <a:b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 Orifices</a:t>
            </a:r>
            <a:br>
              <a:rPr lang="en-US" sz="2600" dirty="0">
                <a:solidFill>
                  <a:schemeClr val="tx1"/>
                </a:solidFill>
              </a:rPr>
            </a:br>
            <a:endParaRPr lang="en-US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69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3FED4-AF14-4DFF-8055-CF6467A56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225332" cy="585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2: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precision and accuracy of SWMM modeling (presentation from detailed studies of SWMM modeling)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Individualized instruction on specific SWMM modeling capabilities 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 o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“Dual-drainage” systems using surface streets as 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  conveyance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 o Natural Channels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 o Surface Ponding or Quasi 2D Modeling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 o Low Impact Development (LID) stormwater modeling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 o Stormwater quality modeling 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40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86F2-7E9C-4F63-BF51-98DA9BE1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57" y="5148813"/>
            <a:ext cx="8534400" cy="1507067"/>
          </a:xfrm>
        </p:spPr>
        <p:txBody>
          <a:bodyPr/>
          <a:lstStyle/>
          <a:p>
            <a:r>
              <a:rPr lang="en-US" b="1" dirty="0">
                <a:latin typeface="+mn-lt"/>
              </a:rPr>
              <a:t>SWMM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8CC6B-0268-4778-BA2C-A9F3983E5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42" y="714889"/>
            <a:ext cx="3454030" cy="3827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1-dimensional, hydrologic model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Lumped parameter (as opposed to distributed)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Link-node architecture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2B8B2-1F6D-4EA7-8EC6-27A960762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800" y="796781"/>
            <a:ext cx="8026200" cy="45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1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03F7-806F-4377-AE04-B11E42AB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85" y="5088085"/>
            <a:ext cx="4452732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SWMM History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0F33753-CE16-482F-AD8B-722B70CA76A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815296"/>
              </p:ext>
            </p:extLst>
          </p:nvPr>
        </p:nvGraphicFramePr>
        <p:xfrm>
          <a:off x="922538" y="942014"/>
          <a:ext cx="10249871" cy="425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Document" r:id="rId3" imgW="8236942" imgH="3417780" progId="Word.Document.12">
                  <p:embed/>
                </p:oleObj>
              </mc:Choice>
              <mc:Fallback>
                <p:oleObj name="Document" r:id="rId3" imgW="8236942" imgH="3417780" progId="Word.Document.12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2538" y="942014"/>
                        <a:ext cx="10249871" cy="42528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222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4">
            <a:extLst>
              <a:ext uri="{FF2B5EF4-FFF2-40B4-BE49-F238E27FC236}">
                <a16:creationId xmlns:a16="http://schemas.microsoft.com/office/drawing/2014/main" id="{2533DC8E-9DEC-4D4F-A8B4-0DEE518CA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017" y="6187831"/>
            <a:ext cx="65580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1000" i="1" dirty="0">
                <a:latin typeface="Arial" charset="0"/>
                <a:cs typeface="Arial" charset="0"/>
              </a:rPr>
              <a:t>Based upon information from 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23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03F7-806F-4377-AE04-B11E42AB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83" y="5088085"/>
            <a:ext cx="6410108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SWMM History (Con’t)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19D1B91-296A-40AA-9AC7-7BCD3EBEB2C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947399"/>
              </p:ext>
            </p:extLst>
          </p:nvPr>
        </p:nvGraphicFramePr>
        <p:xfrm>
          <a:off x="743986" y="481289"/>
          <a:ext cx="10910471" cy="4899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Document" r:id="rId3" imgW="8236942" imgH="3698807" progId="Word.Document.12">
                  <p:embed/>
                </p:oleObj>
              </mc:Choice>
              <mc:Fallback>
                <p:oleObj name="Document" r:id="rId3" imgW="8236942" imgH="3698807" progId="Word.Documen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3986" y="481289"/>
                        <a:ext cx="10910471" cy="489909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222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4">
            <a:extLst>
              <a:ext uri="{FF2B5EF4-FFF2-40B4-BE49-F238E27FC236}">
                <a16:creationId xmlns:a16="http://schemas.microsoft.com/office/drawing/2014/main" id="{2533DC8E-9DEC-4D4F-A8B4-0DEE518CA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653" y="6187828"/>
            <a:ext cx="65580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1000" i="1" dirty="0">
                <a:latin typeface="Arial" charset="0"/>
                <a:cs typeface="Arial" charset="0"/>
              </a:rPr>
              <a:t>Based upon information from 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68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5616" y="5661784"/>
            <a:ext cx="8428383" cy="988254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SWMM Runoff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9269" y="207962"/>
            <a:ext cx="9886121" cy="54538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CONCEPT: </a:t>
            </a:r>
          </a:p>
          <a:p>
            <a:pPr lvl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Developed by the USA EPA as a deterministic approach to runoff</a:t>
            </a:r>
          </a:p>
          <a:p>
            <a:pPr>
              <a:lnSpc>
                <a:spcPct val="80000"/>
              </a:lnSpc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Needs</a:t>
            </a:r>
          </a:p>
          <a:p>
            <a:pPr lvl="1">
              <a:lnSpc>
                <a:spcPct val="80000"/>
              </a:lnSpc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Drainage Area</a:t>
            </a:r>
          </a:p>
          <a:p>
            <a:pPr lvl="1">
              <a:lnSpc>
                <a:spcPct val="80000"/>
              </a:lnSpc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Percent Impervious</a:t>
            </a:r>
          </a:p>
          <a:p>
            <a:pPr lvl="1">
              <a:lnSpc>
                <a:spcPct val="80000"/>
              </a:lnSpc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Basin Slope and Width</a:t>
            </a:r>
          </a:p>
          <a:p>
            <a:pPr lvl="1">
              <a:lnSpc>
                <a:spcPct val="80000"/>
              </a:lnSpc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Rainfall</a:t>
            </a:r>
          </a:p>
          <a:p>
            <a:pPr lvl="1">
              <a:lnSpc>
                <a:spcPct val="80000"/>
              </a:lnSpc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Evaporation</a:t>
            </a:r>
          </a:p>
          <a:p>
            <a:pPr lvl="1">
              <a:lnSpc>
                <a:spcPct val="80000"/>
              </a:lnSpc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Infiltration Method</a:t>
            </a:r>
          </a:p>
          <a:p>
            <a:pPr>
              <a:lnSpc>
                <a:spcPct val="80000"/>
              </a:lnSpc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pPr lvl="1">
              <a:lnSpc>
                <a:spcPct val="80000"/>
              </a:lnSpc>
              <a:buFontTx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Lumped Catchment Parameters</a:t>
            </a:r>
          </a:p>
          <a:p>
            <a:pPr lvl="1">
              <a:lnSpc>
                <a:spcPct val="80000"/>
              </a:lnSpc>
              <a:buFontTx/>
              <a:buChar char="•"/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027" y="5239224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Subcatchments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959" y="1364186"/>
            <a:ext cx="8756342" cy="3613211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Idealized rectangular catchment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Routing choices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Pervious (adjacent sub-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catchment)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Impervious (adjacent sub-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catchment)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98" y="863601"/>
            <a:ext cx="4419600" cy="4113796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513773" y="6333955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27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7322" y="5786369"/>
            <a:ext cx="9144000" cy="685800"/>
          </a:xfrm>
          <a:prstGeom prst="rect">
            <a:avLst/>
          </a:prstGeom>
          <a:noFill/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Catchment Surfaces</a:t>
            </a:r>
          </a:p>
        </p:txBody>
      </p:sp>
      <p:pic>
        <p:nvPicPr>
          <p:cNvPr id="36867" name="Picture 3" descr="surfac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17719" y="150289"/>
            <a:ext cx="54864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 advTm="10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13" y="5090242"/>
            <a:ext cx="8534400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Runoff Routing from Catchments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876" y="92146"/>
            <a:ext cx="7449424" cy="514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 Reservoir Model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(coupled equations)</a:t>
            </a:r>
          </a:p>
          <a:p>
            <a:pPr marL="457200" lvl="1" indent="0">
              <a:buNone/>
            </a:pPr>
            <a:r>
              <a:rPr lang="en-US" sz="24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Continuity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Where: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= A · d = volume of water on the</a:t>
            </a:r>
            <a:b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subarea, [L</a:t>
            </a:r>
            <a:r>
              <a:rPr lang="en-US" sz="15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= water depth, [L]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= time, [T]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= surface area of subcatchment, [L</a:t>
            </a:r>
            <a:r>
              <a:rPr lang="en-US" sz="15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i* = rainfall excess = rainfall/snowmelt </a:t>
            </a:r>
            <a:b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intensity minus evaporation, [L/T]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subcatchment (or subarea) outflow, [L</a:t>
            </a:r>
            <a:r>
              <a:rPr lang="en-US" sz="15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/T]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20065" y="1625500"/>
                <a:ext cx="2525086" cy="559833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𝑑𝑑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1600" dirty="0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65" y="1625500"/>
                <a:ext cx="2525086" cy="5598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1363" y="3514632"/>
                <a:ext cx="3733800" cy="55496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6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1.49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rgbClr val="FFFFFF"/>
                              </a:solidFill>
                              <a:latin typeface="Arial" pitchFamily="34" charset="0"/>
                            </a:rPr>
                            <m:t> 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FFFFFF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363" y="3514632"/>
                <a:ext cx="3733800" cy="554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020986" y="3085556"/>
            <a:ext cx="4980641" cy="5140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Font typeface="Wingdings" pitchFamily="2" charset="2"/>
              <a:buChar char="§"/>
              <a:defRPr sz="3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Font typeface="Wingdings" pitchFamily="2" charset="2"/>
              <a:buChar char="§"/>
              <a:defRPr sz="2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Font typeface="Wingdings" pitchFamily="2" charset="2"/>
              <a:buChar char="§"/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DDDDD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4D74A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4D74A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4D74A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4D74A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 defTabSz="914400">
              <a:buNone/>
              <a:defRPr/>
            </a:pPr>
            <a:r>
              <a:rPr lang="en-US" sz="1800" u="sng" dirty="0">
                <a:solidFill>
                  <a:schemeClr val="tx1"/>
                </a:solidFill>
              </a:rPr>
              <a:t>Manning’s Equation (omit 1.49 for SI)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</a:p>
          <a:p>
            <a:pPr marL="457200" lvl="1" indent="0" defTabSz="914400">
              <a:buNone/>
              <a:defRPr/>
            </a:pPr>
            <a:endParaRPr lang="en-US" sz="1800" dirty="0">
              <a:solidFill>
                <a:schemeClr val="tx1"/>
              </a:solidFill>
            </a:endParaRPr>
          </a:p>
          <a:p>
            <a:pPr marL="457200" lvl="1" indent="0" defTabSz="914400">
              <a:buNone/>
              <a:defRPr/>
            </a:pPr>
            <a:endParaRPr lang="en-US" sz="1800" dirty="0">
              <a:solidFill>
                <a:schemeClr val="tx1"/>
              </a:solidFill>
            </a:endParaRPr>
          </a:p>
          <a:p>
            <a:pPr marL="457200" lvl="1" indent="0" defTabSz="914400">
              <a:buNone/>
              <a:defRPr/>
            </a:pPr>
            <a:r>
              <a:rPr lang="en-US" sz="1700" kern="0" dirty="0">
                <a:solidFill>
                  <a:schemeClr val="tx1"/>
                </a:solidFill>
              </a:rPr>
              <a:t>n = Manning's roughness coefficient,</a:t>
            </a:r>
          </a:p>
          <a:p>
            <a:pPr marL="457200" lvl="1" indent="0" defTabSz="914400">
              <a:buNone/>
              <a:defRPr/>
            </a:pPr>
            <a:r>
              <a:rPr lang="en-US" sz="1700" kern="0" dirty="0">
                <a:solidFill>
                  <a:schemeClr val="tx1"/>
                </a:solidFill>
              </a:rPr>
              <a:t>d = water depth, [L]</a:t>
            </a:r>
          </a:p>
          <a:p>
            <a:pPr marL="457200" lvl="1" indent="0" defTabSz="914400">
              <a:buNone/>
              <a:defRPr/>
            </a:pPr>
            <a:r>
              <a:rPr lang="en-US" sz="1700" kern="0" dirty="0">
                <a:solidFill>
                  <a:schemeClr val="tx1"/>
                </a:solidFill>
              </a:rPr>
              <a:t>d</a:t>
            </a:r>
            <a:r>
              <a:rPr lang="en-US" sz="1700" kern="0" baseline="-25000" dirty="0">
                <a:solidFill>
                  <a:schemeClr val="tx1"/>
                </a:solidFill>
              </a:rPr>
              <a:t>p</a:t>
            </a:r>
            <a:r>
              <a:rPr lang="en-US" sz="1700" kern="0" dirty="0">
                <a:solidFill>
                  <a:schemeClr val="tx1"/>
                </a:solidFill>
              </a:rPr>
              <a:t> = depth of depression (retention) </a:t>
            </a:r>
            <a:br>
              <a:rPr lang="en-US" sz="1700" kern="0" dirty="0">
                <a:solidFill>
                  <a:schemeClr val="tx1"/>
                </a:solidFill>
              </a:rPr>
            </a:br>
            <a:r>
              <a:rPr lang="en-US" sz="1700" kern="0" dirty="0">
                <a:solidFill>
                  <a:schemeClr val="tx1"/>
                </a:solidFill>
              </a:rPr>
              <a:t>storage, [L]</a:t>
            </a:r>
          </a:p>
          <a:p>
            <a:pPr marL="457200" lvl="1" indent="0" defTabSz="914400">
              <a:buNone/>
              <a:defRPr/>
            </a:pPr>
            <a:r>
              <a:rPr lang="en-US" sz="1700" kern="0" dirty="0">
                <a:solidFill>
                  <a:schemeClr val="tx1"/>
                </a:solidFill>
              </a:rPr>
              <a:t>S = slope, dimensionless</a:t>
            </a:r>
          </a:p>
          <a:p>
            <a:pPr defTabSz="914400">
              <a:defRPr/>
            </a:pPr>
            <a:endParaRPr lang="en-US" kern="0" dirty="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538" y="321712"/>
            <a:ext cx="5348798" cy="27638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80718" y="6329753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Source: Rossman, L., 2016. Storm Water Management Model Reference Manual Volume I – Hydrology, U.S. Environmental Protection Agency, National Risk Management Research Laboratory, Office of Research and Development, 235 p., EPA/600/R-15/162.</a:t>
            </a:r>
          </a:p>
        </p:txBody>
      </p:sp>
    </p:spTree>
    <p:extLst>
      <p:ext uri="{BB962C8B-B14F-4D97-AF65-F5344CB8AC3E}">
        <p14:creationId xmlns:p14="http://schemas.microsoft.com/office/powerpoint/2010/main" val="264722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6760" y="4759867"/>
            <a:ext cx="9764162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Solving Non-linear Reservoir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4212" y="1041378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 in each time step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all calculations (omit 1.49 for SI)</a:t>
            </a:r>
          </a:p>
          <a:p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281605" y="1594247"/>
                <a:ext cx="6858000" cy="945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𝑊𝐶𝑂𝑁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5/3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1605" y="1594247"/>
                <a:ext cx="6858000" cy="945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2761" y="3429000"/>
                <a:ext cx="2667000" cy="6390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𝑊𝐶𝑂𝑁</m:t>
                      </m:r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1.49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61" y="3429000"/>
                <a:ext cx="2667000" cy="6390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484920" y="6294966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09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4649" y="4767273"/>
            <a:ext cx="8534400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is Subcatchment Width?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84212" y="583660"/>
                <a:ext cx="8534400" cy="4552544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sz="29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L=Measure representative overland flow path</a:t>
                </a:r>
              </a:p>
              <a:p>
                <a:pPr marL="0" indent="0">
                  <a:buNone/>
                </a:pPr>
                <a:r>
                  <a:rPr lang="en-US" sz="29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W=A/L</a:t>
                </a:r>
              </a:p>
              <a:p>
                <a:pPr marL="0" indent="0">
                  <a:buNone/>
                </a:pPr>
                <a:r>
                  <a:rPr lang="en-US" sz="29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Typically calibration parameter (should be consistent through </a:t>
                </a:r>
                <a:r>
                  <a:rPr lang="en-US" sz="29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subcatchments</a:t>
                </a:r>
                <a:r>
                  <a:rPr lang="en-US" sz="29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sz="2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900" dirty="0">
                    <a:solidFill>
                      <a:schemeClr val="tx1"/>
                    </a:solidFill>
                  </a:rPr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9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sz="29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en-US" sz="2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sz="2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sz="2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time of concentration, [T]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 = subcatchment length [L],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i* = rainfall excess (rainfall minus losses), [L/T]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a, m = kinematic wave parameters, m=5/3,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1.49/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flow per unit width [L</a:t>
                </a:r>
                <a:r>
                  <a:rPr lang="en-US" baseline="30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/T], and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 = depth of flow, [L]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583660"/>
                <a:ext cx="8534400" cy="4552544"/>
              </a:xfrm>
              <a:blipFill>
                <a:blip r:embed="rId2"/>
                <a:stretch>
                  <a:fillRect l="-571" t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419600" y="6477001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8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5923" y="5167082"/>
            <a:ext cx="8534400" cy="1037979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Hydraulic Width Effects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26"/>
          <a:stretch/>
        </p:blipFill>
        <p:spPr>
          <a:xfrm>
            <a:off x="272105" y="483781"/>
            <a:ext cx="6303792" cy="36075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897" y="1222278"/>
            <a:ext cx="5350179" cy="4217824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92366" y="6396335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52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35573" y="5147731"/>
            <a:ext cx="8534400" cy="90539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Overland Flow Roughness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447800" y="762000"/>
            <a:ext cx="9144000" cy="4572000"/>
          </a:xfrm>
        </p:spPr>
        <p:txBody>
          <a:bodyPr/>
          <a:lstStyle/>
          <a:p>
            <a:r>
              <a:rPr lang="en-US" dirty="0"/>
              <a:t>Similar to channels, but different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64" y="279398"/>
            <a:ext cx="9220200" cy="4630722"/>
          </a:xfrm>
          <a:prstGeom prst="rect">
            <a:avLst/>
          </a:prstGeom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003260" y="6396335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771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1293" y="4977395"/>
            <a:ext cx="8534400" cy="96988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Depression Storage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509114" y="245262"/>
            <a:ext cx="8534400" cy="175242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of surface storage in uneven depressions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to calibration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765" y="910720"/>
            <a:ext cx="5861856" cy="5036560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139447" y="6381905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77" y="1702655"/>
            <a:ext cx="4758308" cy="305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2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80E284-795C-4194-80FC-8A265C70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10" y="5833545"/>
            <a:ext cx="5783093" cy="729734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Infiltration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4212" y="184666"/>
            <a:ext cx="8534400" cy="57589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SCS</a:t>
            </a: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rainfall, [L]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storage after runoff begins, [L]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initial abstraction=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[L]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runoff volume @ depth, [L]</a:t>
            </a:r>
          </a:p>
          <a:p>
            <a:pPr marL="0" indent="0">
              <a:buNone/>
            </a:pPr>
            <a:r>
              <a:rPr lang="en-US" sz="28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Horton</a:t>
            </a:r>
          </a:p>
          <a:p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infiltration capacity at time t, [L/t]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constant relating the rate of decreasing </a:t>
            </a:r>
            <a:b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infiltration capacity, [T</a:t>
            </a:r>
            <a:r>
              <a:rPr lang="en-US" sz="16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600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final or equilibrium infiltration capacity,  [L/T]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600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6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initial infiltration capacity, [L/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T]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392631"/>
              </p:ext>
            </p:extLst>
          </p:nvPr>
        </p:nvGraphicFramePr>
        <p:xfrm>
          <a:off x="2896428" y="817470"/>
          <a:ext cx="14478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3" imgW="774360" imgH="393480" progId="Equation.3">
                  <p:embed/>
                </p:oleObj>
              </mc:Choice>
              <mc:Fallback>
                <p:oleObj name="Equation" r:id="rId3" imgW="774360" imgH="393480" progId="Equation.3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428" y="817470"/>
                        <a:ext cx="1447800" cy="73501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272934"/>
              </p:ext>
            </p:extLst>
          </p:nvPr>
        </p:nvGraphicFramePr>
        <p:xfrm>
          <a:off x="918983" y="3655309"/>
          <a:ext cx="279701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5" imgW="1333440" imgH="253800" progId="Equation.3">
                  <p:embed/>
                </p:oleObj>
              </mc:Choice>
              <mc:Fallback>
                <p:oleObj name="Equation" r:id="rId5" imgW="1333440" imgH="2538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983" y="3655309"/>
                        <a:ext cx="2797016" cy="5334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05" name="Picture 33" descr="Curve Number Chart (12 KB)"/>
          <p:cNvPicPr>
            <a:picLocks noChangeAspect="1" noChangeArrowheads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443" y="124265"/>
            <a:ext cx="5502613" cy="3797744"/>
          </a:xfrm>
          <a:prstGeom prst="rect">
            <a:avLst/>
          </a:prstGeom>
          <a:solidFill>
            <a:schemeClr val="accent3"/>
          </a:solidFill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3" y="4352361"/>
            <a:ext cx="5502613" cy="1188781"/>
          </a:xfrm>
          <a:prstGeom prst="rect">
            <a:avLst/>
          </a:prstGeom>
        </p:spPr>
      </p:pic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705600" y="6325821"/>
            <a:ext cx="5197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78C8112B-8FCA-4483-98F3-CC3E01024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440032"/>
              </p:ext>
            </p:extLst>
          </p:nvPr>
        </p:nvGraphicFramePr>
        <p:xfrm>
          <a:off x="892466" y="829603"/>
          <a:ext cx="14478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9" imgW="977476" imgH="495085" progId="Equation.3">
                  <p:embed/>
                </p:oleObj>
              </mc:Choice>
              <mc:Fallback>
                <p:oleObj name="Equation" r:id="rId9" imgW="977476" imgH="495085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466" y="829603"/>
                        <a:ext cx="1447800" cy="7318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3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F9A97A-771F-4547-B77F-C65CC203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69" y="5489735"/>
            <a:ext cx="3965609" cy="899581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Infiltration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719" y="583117"/>
            <a:ext cx="8534400" cy="51264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7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Green-Ampt</a:t>
            </a: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(t)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accumulated infiltration during time step t, [L]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(t)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infiltration rate during time step t, [L/T]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saturated hydraulic conductivity of layer, [L/TT] 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Δ</a:t>
            </a:r>
            <a:r>
              <a:rPr lang="el-GR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θ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= </a:t>
            </a:r>
            <a:r>
              <a:rPr lang="el-GR" sz="2800" i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η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-</a:t>
            </a:r>
            <a:r>
              <a:rPr lang="el-GR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θ</a:t>
            </a:r>
            <a:r>
              <a:rPr lang="en-US" sz="2800" i="1" baseline="-25000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</a:t>
            </a:r>
            <a:r>
              <a:rPr lang="el-GR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,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change in moisture</a:t>
            </a:r>
          </a:p>
          <a:p>
            <a:pPr marL="0" indent="0">
              <a:buNone/>
            </a:pPr>
            <a:r>
              <a:rPr lang="el-GR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θ</a:t>
            </a:r>
            <a:r>
              <a:rPr lang="en-US" sz="2800" i="1" baseline="-25000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</a:t>
            </a:r>
            <a:r>
              <a:rPr lang="el-GR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=Soil moisture content</a:t>
            </a:r>
          </a:p>
          <a:p>
            <a:pPr marL="0" indent="0">
              <a:buNone/>
            </a:pPr>
            <a:r>
              <a:rPr lang="el-GR" sz="2800" i="1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η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= porosity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Ѱ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Soil suction head, [L]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IMD lower for single event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782" y="392715"/>
            <a:ext cx="5209768" cy="19490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935355"/>
              </p:ext>
            </p:extLst>
          </p:nvPr>
        </p:nvGraphicFramePr>
        <p:xfrm>
          <a:off x="552450" y="1262840"/>
          <a:ext cx="2743200" cy="695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4" imgW="1803240" imgH="457200" progId="Equation.3">
                  <p:embed/>
                </p:oleObj>
              </mc:Choice>
              <mc:Fallback>
                <p:oleObj name="Equation" r:id="rId4" imgW="1803240" imgH="457200" progId="Equation.3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450" y="1262840"/>
                        <a:ext cx="2743200" cy="695459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132849"/>
              </p:ext>
            </p:extLst>
          </p:nvPr>
        </p:nvGraphicFramePr>
        <p:xfrm>
          <a:off x="552450" y="1967205"/>
          <a:ext cx="198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6" imgW="1231900" imgH="457200" progId="Equation.3">
                  <p:embed/>
                </p:oleObj>
              </mc:Choice>
              <mc:Fallback>
                <p:oleObj name="Equation" r:id="rId6" imgW="1231900" imgH="457200" progId="Equation.3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1967205"/>
                        <a:ext cx="1981200" cy="7366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326220" y="6366944"/>
            <a:ext cx="54539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Sample, D. and Heaney, J., 2006. Integrated Management of Irrigation and Urban Stormwater Infiltration, J. Water Res. Pl. ASCE, 132 (5): 362-373. 132 (5), 362-373, Available from: http://link.aip.org/link/?QWR/132/362/1.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702650"/>
              </p:ext>
            </p:extLst>
          </p:nvPr>
        </p:nvGraphicFramePr>
        <p:xfrm>
          <a:off x="6638985" y="2670434"/>
          <a:ext cx="4481209" cy="2607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Worksheet" r:id="rId8" imgW="3899379" imgH="2268268" progId="Excel.Sheet.12">
                  <p:embed/>
                </p:oleObj>
              </mc:Choice>
              <mc:Fallback>
                <p:oleObj name="Worksheet" r:id="rId8" imgW="3899379" imgH="2268268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38985" y="2670434"/>
                        <a:ext cx="4481209" cy="260734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1382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0429" y="4889268"/>
            <a:ext cx="8534400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Evaporation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4212" y="685801"/>
            <a:ext cx="2506460" cy="274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Climatology, daily, max, min 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657" y="292217"/>
            <a:ext cx="8679986" cy="4591067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499371" y="6396335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70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7208" y="5212043"/>
            <a:ext cx="8534400" cy="9601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Soil Moisture Storage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0213" y="202841"/>
            <a:ext cx="5512307" cy="5390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ΔS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change in soil moisture storage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precipitation, [L]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runoff volume, [L]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evapotranspiration, [L]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Wilting Point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 Capacity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Depletion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Regeneration</a:t>
            </a:r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 rotWithShape="1">
          <a:blip r:embed="rId3" cstate="print"/>
          <a:srcRect b="20609"/>
          <a:stretch/>
        </p:blipFill>
        <p:spPr bwMode="auto">
          <a:xfrm>
            <a:off x="5985703" y="499534"/>
            <a:ext cx="5731264" cy="4607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208421"/>
              </p:ext>
            </p:extLst>
          </p:nvPr>
        </p:nvGraphicFramePr>
        <p:xfrm>
          <a:off x="650213" y="499534"/>
          <a:ext cx="32448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4" imgW="927000" imgH="152280" progId="Equation.3">
                  <p:embed/>
                </p:oleObj>
              </mc:Choice>
              <mc:Fallback>
                <p:oleObj name="Equation" r:id="rId4" imgW="927000" imgH="15228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13" y="499534"/>
                        <a:ext cx="3244850" cy="533400"/>
                      </a:xfrm>
                      <a:prstGeom prst="rect">
                        <a:avLst/>
                      </a:prstGeom>
                      <a:solidFill>
                        <a:schemeClr val="accent3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162520" y="6460539"/>
            <a:ext cx="57263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Sample, D. and Heaney, J., 2006. Integrated Management of Irrigation and Urban Stormwater Infiltration, J. Water Res. Pl. ASCE, 132 (5): 362-373. 132 (5), 362-373, Available from: http://link.aip.org/link/?QWR/132/362/1. </a:t>
            </a:r>
          </a:p>
        </p:txBody>
      </p:sp>
    </p:spTree>
    <p:extLst>
      <p:ext uri="{BB962C8B-B14F-4D97-AF65-F5344CB8AC3E}">
        <p14:creationId xmlns:p14="http://schemas.microsoft.com/office/powerpoint/2010/main" val="282025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4212" y="5221063"/>
            <a:ext cx="8534400" cy="1141111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Snowmelt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72989" y="495826"/>
            <a:ext cx="3506048" cy="2356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Accumulation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Melting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Removal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330" y="103036"/>
            <a:ext cx="7196832" cy="4976492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791200" y="6366944"/>
            <a:ext cx="6096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Sample, D. and Heaney, J., 2006. Integrated Management of Irrigation and Urban Stormwater Infiltration, J. Water Res. Pl. ASCE, 132 (5): 362-373. 132 (5), 362-373, Available from: http://link.aip.org/link/?QWR/132/362/1. </a:t>
            </a:r>
          </a:p>
        </p:txBody>
      </p:sp>
    </p:spTree>
    <p:extLst>
      <p:ext uri="{BB962C8B-B14F-4D97-AF65-F5344CB8AC3E}">
        <p14:creationId xmlns:p14="http://schemas.microsoft.com/office/powerpoint/2010/main" val="3308934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7674" y="4875617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Groundwater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93704" y="785011"/>
            <a:ext cx="4732453" cy="361526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Provides a sink for deep percolation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Necessary for continuous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simulation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325122" y="6396335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283" y="3403268"/>
            <a:ext cx="5854043" cy="26027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132" y="218780"/>
            <a:ext cx="3448194" cy="316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98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3453" y="5279116"/>
            <a:ext cx="8534400" cy="10789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Junctions and Conduits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34" y="394101"/>
            <a:ext cx="6374959" cy="327237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493" y="1355640"/>
            <a:ext cx="4874275" cy="4735908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597987" y="6396335"/>
            <a:ext cx="52970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sz="800" i="1" dirty="0">
                <a:latin typeface="Arial" charset="0"/>
                <a:cs typeface="Arial" charset="0"/>
              </a:rPr>
              <a:t>James, W., Rossman, L.A., Huber, W.C., Dickinson, R.E., James, R.C., Roesner, L.A., and Aldrich, J.A., 2005, User’s Guide to SWMM5, Computational Hydraulics International, Ltd, 852 pages.</a:t>
            </a:r>
          </a:p>
          <a:p>
            <a:endParaRPr lang="en-US" sz="8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40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8319" y="5489215"/>
            <a:ext cx="8534400" cy="998168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BMP Modeling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68319" y="284085"/>
            <a:ext cx="6204482" cy="49752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Wet/dry Ponds, are modeled as storage nodes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 BMPs are embedded in subcatchments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Types: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Bioretention/Rain garden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 roof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Infiltration trench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Permeable pavement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 barrels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Vegetated swales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Routing: Pervious:Pervious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Outflow: Normally to pipe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303362" y="2143193"/>
            <a:ext cx="4519475" cy="4100743"/>
          </a:xfrm>
          <a:prstGeom prst="rect">
            <a:avLst/>
          </a:prstGeom>
          <a:solidFill>
            <a:srgbClr val="D5D3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786383" y="2791470"/>
            <a:ext cx="3194721" cy="25930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16943" y="3886289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86383" y="5657502"/>
            <a:ext cx="2864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Subcatchment</a:t>
            </a:r>
          </a:p>
        </p:txBody>
      </p:sp>
    </p:spTree>
    <p:extLst>
      <p:ext uri="{BB962C8B-B14F-4D97-AF65-F5344CB8AC3E}">
        <p14:creationId xmlns:p14="http://schemas.microsoft.com/office/powerpoint/2010/main" val="1977868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9586" y="4365795"/>
            <a:ext cx="3244129" cy="1401554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SWMM LID Limitations</a:t>
            </a:r>
          </a:p>
        </p:txBody>
      </p:sp>
      <p:sp>
        <p:nvSpPr>
          <p:cNvPr id="23" name="Content Placeholder 1"/>
          <p:cNvSpPr>
            <a:spLocks noGrp="1"/>
          </p:cNvSpPr>
          <p:nvPr>
            <p:ph idx="1"/>
          </p:nvPr>
        </p:nvSpPr>
        <p:spPr>
          <a:xfrm>
            <a:off x="439586" y="474480"/>
            <a:ext cx="5411788" cy="2836922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BMPs are modeled within subcatchments, not nodes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Routing-pervious to pervious issues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simplified, mass balance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Infiltration approximation during wetting/drying</a:t>
            </a:r>
          </a:p>
          <a:p>
            <a:pPr lvl="1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29193" y="3715363"/>
            <a:ext cx="3620986" cy="3038586"/>
          </a:xfrm>
          <a:prstGeom prst="rect">
            <a:avLst/>
          </a:prstGeom>
          <a:solidFill>
            <a:srgbClr val="D5D3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621700" y="4123324"/>
            <a:ext cx="2808941" cy="199474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864120" y="4844484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LID Practice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4457" y="6252632"/>
            <a:ext cx="2923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Subcatchment 2a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3955" y="3858349"/>
            <a:ext cx="3581400" cy="2895600"/>
          </a:xfrm>
          <a:prstGeom prst="rect">
            <a:avLst/>
          </a:prstGeom>
          <a:solidFill>
            <a:srgbClr val="D5D3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026836" y="4306958"/>
            <a:ext cx="2808941" cy="199474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01124" y="4939901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LID Practice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3" y="6284836"/>
            <a:ext cx="2923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Subcatchment 1a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6478" y="593273"/>
            <a:ext cx="3620986" cy="2718129"/>
          </a:xfrm>
          <a:prstGeom prst="rect">
            <a:avLst/>
          </a:prstGeom>
          <a:solidFill>
            <a:srgbClr val="D5D3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625256" y="2623857"/>
            <a:ext cx="2923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Subcatchment 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98070" y="536605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ight Arrow 24"/>
          <p:cNvSpPr/>
          <p:nvPr/>
        </p:nvSpPr>
        <p:spPr>
          <a:xfrm rot="8471978">
            <a:off x="7237102" y="324764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400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2967" y="5146747"/>
            <a:ext cx="8534400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Event-Based Simulation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5916" y="861391"/>
            <a:ext cx="8534400" cy="36666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Event-based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SCS Type I, IA, II, III rainfall, 24 hours, or real short-duration storm events, including NOAA A-D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Multiply Weighting factor by storm volume, found at: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http://dipper.nws.noaa.gov/hdsc/pfds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 ignore: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Evapotranspiration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Groundwater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term soil moisture (but initial conditions are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 uncalibrated</a:t>
            </a:r>
          </a:p>
        </p:txBody>
      </p:sp>
      <p:pic>
        <p:nvPicPr>
          <p:cNvPr id="6146" name="Picture 2" descr="http://forest.mtu.edu/pcforestry/resources/studentprojects/scs/fig_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834" y="2987125"/>
            <a:ext cx="4666696" cy="36666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063425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2169" y="5233056"/>
            <a:ext cx="8534400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Continuous Simulation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2069" y="506027"/>
            <a:ext cx="10112192" cy="51135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Purpose, to review long term trends and system behavior in terms of occurrence frequencies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Hourly or subhourly (15-minute) rainfall, normally for 10 years or more (NWS)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Climatological data (temperature) for ET simulation (NWS)</a:t>
            </a:r>
          </a:p>
          <a:p>
            <a:pPr lvl="2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http://gis.ncdc.noaa.gov/map/viewer/#app=cdo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http://cdo.ncdc.noaa.gov/qclcd/QCLCD?prior=N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use National Stormwater Calculator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Aquifer storage/groundwater flow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Calibration: normally done if data available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34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8904" y="5188668"/>
            <a:ext cx="8534400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Applications of SWMM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8904" y="291547"/>
            <a:ext cx="8534400" cy="521785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Designing drainage system components for 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flood control.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of detention facilities for flood control 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water quality.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 flood plains of natural channels 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(SWMM 5 is a FEMA-approved model for NFIP studies).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Designing control strategies for minimizing combined sewer overflows.</a:t>
            </a:r>
          </a:p>
        </p:txBody>
      </p:sp>
    </p:spTree>
    <p:extLst>
      <p:ext uri="{BB962C8B-B14F-4D97-AF65-F5344CB8AC3E}">
        <p14:creationId xmlns:p14="http://schemas.microsoft.com/office/powerpoint/2010/main" val="2415361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5435" y="5144280"/>
            <a:ext cx="8534400" cy="150706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Applications of SWMM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con’t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95435" y="206653"/>
            <a:ext cx="8534400" cy="4791475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Evaluating the impact of inflow and infiltration on sanitary sewer overflows (SSOs).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Generating non-point source pollutant loadings 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waste load allocation studies.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Controlling site runoff using low impact development (LID) or green infrastructure (GI).</a:t>
            </a:r>
          </a:p>
          <a:p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Evaluating the effectiveness of BMPs for </a:t>
            </a:r>
            <a:b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reducing wet weather pollutant loadings.</a:t>
            </a:r>
          </a:p>
        </p:txBody>
      </p:sp>
    </p:spTree>
    <p:extLst>
      <p:ext uri="{BB962C8B-B14F-4D97-AF65-F5344CB8AC3E}">
        <p14:creationId xmlns:p14="http://schemas.microsoft.com/office/powerpoint/2010/main" val="93361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1757</Words>
  <Application>Microsoft Office PowerPoint</Application>
  <PresentationFormat>Widescreen</PresentationFormat>
  <Paragraphs>226</Paragraphs>
  <Slides>29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Wingdings</vt:lpstr>
      <vt:lpstr>Office Theme</vt:lpstr>
      <vt:lpstr>Document</vt:lpstr>
      <vt:lpstr>Equation</vt:lpstr>
      <vt:lpstr>Worksheet</vt:lpstr>
      <vt:lpstr>Modeling Urban Stormwater Using EPA-SWMM</vt:lpstr>
      <vt:lpstr>WORKSHOP GOAL</vt:lpstr>
      <vt:lpstr>PowerPoint Presentation</vt:lpstr>
      <vt:lpstr>PowerPoint Presentation</vt:lpstr>
      <vt:lpstr>SWMM Model</vt:lpstr>
      <vt:lpstr>SWMM History</vt:lpstr>
      <vt:lpstr>SWMM History (Con’t)</vt:lpstr>
      <vt:lpstr>SWMM Runoff</vt:lpstr>
      <vt:lpstr>Subcatchments </vt:lpstr>
      <vt:lpstr>Catchment Surfaces</vt:lpstr>
      <vt:lpstr>Runoff Routing from Catchments</vt:lpstr>
      <vt:lpstr>Solving Non-linear Reservoir</vt:lpstr>
      <vt:lpstr>What is Subcatchment Width?</vt:lpstr>
      <vt:lpstr>Hydraulic Width Effects</vt:lpstr>
      <vt:lpstr>Overland Flow Roughness</vt:lpstr>
      <vt:lpstr>Depression Storage</vt:lpstr>
      <vt:lpstr>Infiltration</vt:lpstr>
      <vt:lpstr>Infiltration</vt:lpstr>
      <vt:lpstr>Evaporation</vt:lpstr>
      <vt:lpstr>Soil Moisture Storage</vt:lpstr>
      <vt:lpstr>Snowmelt</vt:lpstr>
      <vt:lpstr>Groundwater</vt:lpstr>
      <vt:lpstr>Junctions and Conduits</vt:lpstr>
      <vt:lpstr>BMP Modeling</vt:lpstr>
      <vt:lpstr>SWMM LID Limitations</vt:lpstr>
      <vt:lpstr>Event-Based Simulation</vt:lpstr>
      <vt:lpstr>Continuous Simulation</vt:lpstr>
      <vt:lpstr>Applications of SWMM</vt:lpstr>
      <vt:lpstr>Applications of SWMM (con’t)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Urban Stormwater Using EPA-SWMM</dc:title>
  <dc:creator>Robert Carr</dc:creator>
  <cp:lastModifiedBy>Robert Carr</cp:lastModifiedBy>
  <cp:revision>20</cp:revision>
  <dcterms:created xsi:type="dcterms:W3CDTF">2019-01-10T05:17:50Z</dcterms:created>
  <dcterms:modified xsi:type="dcterms:W3CDTF">2019-01-16T04:41:48Z</dcterms:modified>
</cp:coreProperties>
</file>